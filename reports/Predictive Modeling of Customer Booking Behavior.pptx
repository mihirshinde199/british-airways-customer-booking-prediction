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igtree"/>
      <p:regular r:id="rId26"/>
      <p:bold r:id="rId27"/>
      <p:italic r:id="rId28"/>
      <p:boldItalic r:id="rId29"/>
    </p:embeddedFont>
    <p:embeddedFont>
      <p:font typeface="Jost"/>
      <p:regular r:id="rId30"/>
      <p:bold r:id="rId31"/>
      <p:italic r:id="rId32"/>
      <p:boldItalic r:id="rId33"/>
    </p:embeddedFont>
    <p:embeddedFont>
      <p:font typeface="Average"/>
      <p:regular r:id="rId34"/>
    </p:embeddedFont>
    <p:embeddedFont>
      <p:font typeface="Oswald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regular.fntdata"/><Relationship Id="rId25" Type="http://schemas.openxmlformats.org/officeDocument/2006/relationships/slide" Target="slides/slide20.xml"/><Relationship Id="rId28" Type="http://schemas.openxmlformats.org/officeDocument/2006/relationships/font" Target="fonts/Figtree-italic.fntdata"/><Relationship Id="rId27" Type="http://schemas.openxmlformats.org/officeDocument/2006/relationships/font" Target="fonts/Figtre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t-bold.fntdata"/><Relationship Id="rId30" Type="http://schemas.openxmlformats.org/officeDocument/2006/relationships/font" Target="fonts/Jost-regular.fntdata"/><Relationship Id="rId11" Type="http://schemas.openxmlformats.org/officeDocument/2006/relationships/slide" Target="slides/slide6.xml"/><Relationship Id="rId33" Type="http://schemas.openxmlformats.org/officeDocument/2006/relationships/font" Target="fonts/Jost-boldItalic.fntdata"/><Relationship Id="rId10" Type="http://schemas.openxmlformats.org/officeDocument/2006/relationships/slide" Target="slides/slide5.xml"/><Relationship Id="rId32" Type="http://schemas.openxmlformats.org/officeDocument/2006/relationships/font" Target="fonts/Jost-italic.fntdata"/><Relationship Id="rId13" Type="http://schemas.openxmlformats.org/officeDocument/2006/relationships/slide" Target="slides/slide8.xml"/><Relationship Id="rId35" Type="http://schemas.openxmlformats.org/officeDocument/2006/relationships/font" Target="fonts/Oswald-regular.fntdata"/><Relationship Id="rId12" Type="http://schemas.openxmlformats.org/officeDocument/2006/relationships/slide" Target="slides/slide7.xml"/><Relationship Id="rId34" Type="http://schemas.openxmlformats.org/officeDocument/2006/relationships/font" Target="fonts/Averag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swa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f6bfc1472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f6bfc1472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f6bfc14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f6bfc14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f6bfc147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f6bfc147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f6bfc147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f6bfc147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f6bfc147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f6bfc147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f6bfc147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f6bfc147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f6bfc147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f6bfc14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f6bfc147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f6bfc147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f6bfc147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f6bfc147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f6bfc147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f6bfc147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f6bfc147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f6bfc147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f6bfc147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f6bfc147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f6bfc147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f6bfc147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f6bfc14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f6bfc14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f6bfc147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f6bfc147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f6bfc14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f6bfc14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f6bfc147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f6bfc147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f6bfc147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f6bfc147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f6bfc1472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f6bfc1472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" name="Google Shape;57;p13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60" name="Google Shape;60;p13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1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image" Target="../media/image16.jpg"/><Relationship Id="rId5" Type="http://schemas.openxmlformats.org/officeDocument/2006/relationships/image" Target="../media/image24.jpg"/><Relationship Id="rId6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scikit-learn.org/stable/modules/model_evaluation.html" TargetMode="External"/><Relationship Id="rId5" Type="http://schemas.openxmlformats.org/officeDocument/2006/relationships/hyperlink" Target="https://colab.research.google.com/drive/1Uw81UqMsf3Tj8bMHf4K_yvqDbcfR499L#scrollTo=O6XquAe4Byz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0" y="203825"/>
            <a:ext cx="8520600" cy="161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Predictive Modeling of Customer Booking Behavior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Mihir Shinde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22/07/2025</a:t>
            </a:r>
            <a:endParaRPr/>
          </a:p>
        </p:txBody>
      </p:sp>
      <p:pic>
        <p:nvPicPr>
          <p:cNvPr descr="Boeing 787 Dreamliner operated by British Airways (Provided by Getty Images)"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475" y="1922800"/>
            <a:ext cx="4513751" cy="30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950"/>
            <a:ext cx="10687575" cy="49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Data Summary: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0" y="648675"/>
            <a:ext cx="7579200" cy="43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Dataset: ~50,000 rows of customer booking data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Target Variable: booking_complete (0 = Not Booked, 1 = Booked)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Feature Types: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Numerical: purchase_lead, flight_hour, flight_duration, etc.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Categorical: trip_type, sales_channel, route, booking_origin, etc.</a:t>
            </a:r>
            <a:endParaRPr/>
          </a:p>
        </p:txBody>
      </p:sp>
      <p:pic>
        <p:nvPicPr>
          <p:cNvPr descr="Group of business people analysis summary graph reports of business operating expenses and work data about the company's financial statements. (Provided by Getty Images)"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100" y="2184275"/>
            <a:ext cx="4204375" cy="280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Feature Engineering &amp; Preprocessing: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0" y="572700"/>
            <a:ext cx="9251400" cy="46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Target encoding: route, booking_origin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One-Hot Encoding: sales_channel, trip_type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Mapped weekdays to numeric: flight_day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SMOTE applied to balance target classes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StandardScaler applied to numerical features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96454"/>
            <a:ext cx="9144001" cy="2895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 up Businessman and partner using calculator and laptop for calculating finance, tax, accounting, statistics and analytic research concept (Provided by Getty Images)"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326" y="126425"/>
            <a:ext cx="3461576" cy="23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00" y="0"/>
            <a:ext cx="780064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395" y="0"/>
            <a:ext cx="77492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14924" cy="4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Models Used: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Logistic Regression (with hyperparameter tuning)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Random Forest Classifier (with class imbalance handling)</a:t>
            </a:r>
            <a:endParaRPr/>
          </a:p>
        </p:txBody>
      </p:sp>
      <p:pic>
        <p:nvPicPr>
          <p:cNvPr descr="Artificial intelligence (AI), machine learning and modern computer technologies concepts. Business, Technology, Internet and network concept. 3d illustration (Provided by Getty Images)"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425" y="1940096"/>
            <a:ext cx="7514701" cy="29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3200" y="-279125"/>
            <a:ext cx="11128726" cy="56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875" y="-60125"/>
            <a:ext cx="59390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-989" l="0" r="0" t="0"/>
          <a:stretch/>
        </p:blipFill>
        <p:spPr>
          <a:xfrm>
            <a:off x="0" y="0"/>
            <a:ext cx="9389775" cy="519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4563825" cy="49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b="0" l="0" r="-1183" t="0"/>
          <a:stretch/>
        </p:blipFill>
        <p:spPr>
          <a:xfrm>
            <a:off x="4572000" y="-50750"/>
            <a:ext cx="4563825" cy="52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187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125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Model Evaluation (Best Performing: Logistic Regression):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Accuracy: ~83%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AUC Score: ~0.89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F1-Score: 0.81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025" y="1279400"/>
            <a:ext cx="4057126" cy="361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1859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115650" y="7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Top Predictive Features: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863550"/>
            <a:ext cx="8616900" cy="4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Booking origin, Extra baggage, Trip type, Seat selection, Sales channel</a:t>
            </a:r>
            <a:endParaRPr/>
          </a:p>
        </p:txBody>
      </p:sp>
      <p:pic>
        <p:nvPicPr>
          <p:cNvPr descr="Tourist at Barcelona international airport (Provided by Getty Images)"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902" y="1457900"/>
            <a:ext cx="1938550" cy="1293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mily Loading Luggage Onto Car Roof Rack Ready For Road Trip (Provided by Getty Images)" id="162" name="Google Shape;16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951" y="1457900"/>
            <a:ext cx="1939988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pty Air Plane Seats (Provided by Getty Images)" id="163" name="Google Shape;16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350" y="2923875"/>
            <a:ext cx="2632402" cy="157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line shopping (Provided by Getty Images)" id="164" name="Google Shape;16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9900" y="2923875"/>
            <a:ext cx="3131725" cy="208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Key Insights: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Extra services indicate higher booking likelihood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Country of origin and lead time matter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Strong time feature influence</a:t>
            </a:r>
            <a:endParaRPr/>
          </a:p>
        </p:txBody>
      </p:sp>
      <p:pic>
        <p:nvPicPr>
          <p:cNvPr descr="Market research icon / vector graphics (Provided by Getty Images)" id="171" name="Google Shape;1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225" y="82832"/>
            <a:ext cx="2085248" cy="2085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inative visual of business people and financial firms staff (Provided by Getty Images)" id="172" name="Google Shape;1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350" y="2257351"/>
            <a:ext cx="4572001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links: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https://scikit-learn.org/stable/supervised_learning.html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https://scikit-learn.org/stable/modules/model_evaluation.html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https://colab.research.google.com/drive/1Uw81UqMsf3Tj8bMHf4K_yvqDbcfR499L#scrollTo=O6XquAe4Byzl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84" name="Google Shape;184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BRITISH AIRWAYS</a:t>
            </a:r>
            <a:endParaRPr/>
          </a:p>
        </p:txBody>
      </p:sp>
      <p:sp>
        <p:nvSpPr>
          <p:cNvPr id="185" name="Google Shape;185;p3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86" name="Google Shape;186;p33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